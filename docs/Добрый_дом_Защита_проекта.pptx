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99" r:id="rId10"/>
    <p:sldId id="262" r:id="rId11"/>
    <p:sldId id="300" r:id="rId12"/>
    <p:sldId id="301" r:id="rId13"/>
    <p:sldId id="302" r:id="rId14"/>
    <p:sldId id="303" r:id="rId15"/>
    <p:sldId id="304" r:id="rId16"/>
    <p:sldId id="263" r:id="rId17"/>
    <p:sldId id="264" r:id="rId18"/>
    <p:sldId id="265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323768-1DB4-463B-BB12-4741791F3A22}">
  <a:tblStyle styleId="{3B323768-1DB4-463B-BB12-4741791F3A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Добрый день! Тема моего проекта — «Добрый дом», веб-сервис приюта для кошек и собак: каталог питомцев, подбор по условиям, заявка на знакомство и кабинет сотрудника приюта.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Проверка связи перед началом.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Представьтесь и коротко расскажите о себе. На фото — главная страница сайта «Добрый дом».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План: цель и задачи, технологии, что получилось (скриншоты, путь кандидата, архитектура, цифры, качество), выводы и вопросы.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Цель — не витрина, а рабочий процесс пристройства: кандидат сам находит подходящего питомца и оставляет структурированную заявку, сотрудники видят все заявки и решают по ним. Четыре задачи: каталог и подбор, заявка, кабинеты и права, развёртывание и проверка.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React и TypeScript — интерфейс; Express и zod — API, где каждое поле перепроверяется на сервере. Хранилище — один JSON-файл с атомарной записью: для приюта с сотнями записей хватает, а при росте меняется только server/store.ts. Docker, GitHub Actions и Trivy — сборка, тесты и проверка уязвимостей. [Добавьте своё впечатление от технологий.]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Запрос идёт из браузера в </a:t>
            </a:r>
            <a:r>
              <a:rPr lang="en-US"/>
              <a:t>nginx, nginx </a:t>
            </a:r>
            <a:r>
              <a:rPr lang="ru-RU"/>
              <a:t>отдаёт статику и проксирует </a:t>
            </a:r>
            <a:r>
              <a:rPr lang="en-US"/>
              <a:t>API. API </a:t>
            </a:r>
            <a:r>
              <a:rPr lang="ru-RU"/>
              <a:t>на </a:t>
            </a:r>
            <a:r>
              <a:rPr lang="en-US"/>
              <a:t>Express </a:t>
            </a:r>
            <a:r>
              <a:rPr lang="ru-RU"/>
              <a:t>проверяет права и данные и пишет в </a:t>
            </a:r>
            <a:r>
              <a:rPr lang="en-US"/>
              <a:t>JSON-</a:t>
            </a:r>
            <a:r>
              <a:rPr lang="ru-RU"/>
              <a:t>файл. Всё собирается в два </a:t>
            </a:r>
            <a:r>
              <a:rPr lang="en-US"/>
              <a:t>Docker-</a:t>
            </a:r>
            <a:r>
              <a:rPr lang="ru-RU"/>
              <a:t>образа, </a:t>
            </a:r>
            <a:r>
              <a:rPr lang="en-US"/>
              <a:t>CI </a:t>
            </a:r>
            <a:r>
              <a:rPr lang="ru-RU"/>
              <a:t>на </a:t>
            </a:r>
            <a:r>
              <a:rPr lang="en-US"/>
              <a:t>GitHub Actions.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826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Это работающий сайт, а не макет. Можно показать вживую: npm run dev или docker compose up web api, демо-вход — кнопки на странице /login, пароль demo1234.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Основной сценарий в четыре шага. Подбор сразу отсекает несовместимых питомцев: если в семье маленькие дети, а питомец их боится, его не предложат. Одобрение заявки автоматически бронирует питомца.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9202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Форма построена так, чтобы её нельзя было отправить случайно: «Далее» и «Отправить» — разные кнопки, без согласия на обработку данных заявка не уходит. Повторная заявка возвращает номер первой.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770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Дашборд на демо-данных: 19% одобренных заявок, решение в среднем за 3 дня. Самая частая причина отказа — «не удалось связаться» (21%), поэтому следующая доработка — письма кандидатам о статусе. Эти же цифры без персональных данных открыты на странице /investors.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2075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34 эндпоинта, 24 автотеста API и 22 экрана. История заявок в демо-данных генерируется детерминированно, поэтому цифры на дашборде воспроизводимы.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5843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Проверка шла на трёх уровнях: автотесты API, автоматический поиск уязвимостей и ручной обход всех страниц на разных ширинах и под разными ролями. Ручная проверка нашла, например, сброс демо-данных без подтверждения и потерю фильтров в ссылках пагинации — оба исправлены.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5996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Ответьте по шаблону: удалось ли достичь цели и выполнить задачи; что далось легко, а что трудно; сколько времени занял проект; насколько он был полезен по шкале от 1 до 10; остались ли вопросы; как планируете развиваться дальше.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Ответьте на вопросы одногруппников и преподавателей и получите обратную связь.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Спасибо за внимание! Репозиторий: </a:t>
            </a:r>
            <a:r>
              <a:rPr lang="en-US"/>
              <a:t>github.com/VitalyKruk/dobryi-dom.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«Добрый дом» — веб-сервис приюта для кошек и собак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[Название курса]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/>
              <a:t>Защита проекта</a:t>
            </a:r>
            <a:br>
              <a:rPr lang="ru-RU" sz="3000"/>
            </a:br>
            <a:r>
              <a:rPr lang="ru-RU" sz="3000"/>
              <a:t>Тема: «Добрый дом»</a:t>
            </a:r>
            <a:endParaRPr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[Имя Фамилия]</a:t>
            </a:r>
            <a:endParaRPr sz="2300" b="1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latin typeface="Roboto Medium"/>
                <a:ea typeface="Roboto Medium"/>
                <a:cs typeface="Roboto Medium"/>
                <a:sym typeface="Roboto Medium"/>
              </a:rPr>
              <a:t>[Кратко о себе и своей деятельности]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Скриншот главной страницы">
            <a:extLst>
              <a:ext uri="{FF2B5EF4-FFF2-40B4-BE49-F238E27FC236}">
                <a16:creationId xmlns:a16="http://schemas.microsoft.com/office/drawing/2014/main" id="{DF595D39-F6EF-4F0A-AD3A-26F9079C522D}"/>
              </a:ext>
            </a:extLst>
          </p:cNvPr>
          <p:cNvPicPr>
            <a:picLocks/>
          </p:cNvPicPr>
          <p:nvPr/>
        </p:nvPicPr>
        <p:blipFill>
          <a:blip r:embed="rId3"/>
          <a:srcRect l="4399" r="32260"/>
          <a:stretch>
            <a:fillRect/>
          </a:stretch>
        </p:blipFill>
        <p:spPr>
          <a:xfrm>
            <a:off x="630000" y="2085726"/>
            <a:ext cx="2349900" cy="2318700"/>
          </a:xfrm>
          <a:prstGeom prst="ellipse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504365153"/>
              </p:ext>
            </p:extLst>
          </p:nvPr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Каталог с фильтрами совместимости и подбор «Подходят вам»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Заявка на знакомство из 4 шагов с проверкой на сервере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Кабинеты кандидата и сотрудника, роли и права доступа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Docker, CI и автоматическая проверка безопасности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Цель: сервис, где кандидат подбирает питомца и оставляет заявку, а приют разбирает заявки в одном месте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089154041"/>
              </p:ext>
            </p:extLst>
          </p:nvPr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 19 + TypeScript, Vite, Tailwind CSS 4, shadcn/ui — 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интерфейс</a:t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Node 24 + Express 5, zod — REST API, валидация и права на сервере</a:t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JSON-хранилище с атомарной записью, scrypt — данные и пароли</a:t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 + nginx, GitHub Actions, Trivy — 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сборка, тесты, уязвимости</a:t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Почему этот стек">
            <a:extLst>
              <a:ext uri="{FF2B5EF4-FFF2-40B4-BE49-F238E27FC236}">
                <a16:creationId xmlns:a16="http://schemas.microsoft.com/office/drawing/2014/main" id="{2F8B5EC9-666A-4E7A-89D3-B905A80EF981}"/>
              </a:ext>
            </a:extLst>
          </p:cNvPr>
          <p:cNvSpPr txBox="1"/>
          <p:nvPr/>
        </p:nvSpPr>
        <p:spPr>
          <a:xfrm>
            <a:off x="1638300" y="3810000"/>
            <a:ext cx="6604000" cy="69249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300">
                <a:solidFill>
                  <a:srgbClr val="5B5B5B"/>
                </a:solidFill>
                <a:latin typeface="Roboto" panose="02000000000000000000" pitchFamily="2" charset="0"/>
              </a:rPr>
              <a:t>Почему так: это стек, который генерирует Lovable, — прототип переносится без переписывания, а TypeScript общий для сайта и API (типы и правила подбора не дублируются).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Архитектура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641201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Браузер</a:t>
            </a:r>
            <a:endParaRPr sz="13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410369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nginx</a:t>
            </a:r>
            <a:endParaRPr sz="13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267702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 sz="13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629981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Данные</a:t>
            </a:r>
            <a:endParaRPr sz="13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43762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CI/CD</a:t>
            </a:r>
            <a:endParaRPr sz="13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>
            <p:extLst>
              <p:ext uri="{D42A27DB-BD31-4B8C-83A1-F6EECF244321}">
                <p14:modId xmlns:p14="http://schemas.microsoft.com/office/powerpoint/2010/main" val="2421512217"/>
              </p:ext>
            </p:extLst>
          </p:nvPr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React-приложение: сайт и кабинет сотрудника, фильтры в адресе, формы с проверкой (react-hook-form + zod)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Раздаёт собранный сайт, проксирует /api и /uploads, прямые ссылки SPA без 404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Node 24 + Express 5: 34 эндпоинта, права по ролям и проверка данных на сервере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db.json с атомарной записью; пароли — scrypt, в базе только хеш токена; фото проверяются по сигнатуре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 Compose; GitHub Actions: </a:t>
                      </a: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линтер, сборка, тесты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API, </a:t>
                      </a: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публикация образов;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npm audit </a:t>
                      </a: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Trivy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12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pic>
        <p:nvPicPr>
          <p:cNvPr id="3" name="Скриншот: главная">
            <a:extLst>
              <a:ext uri="{FF2B5EF4-FFF2-40B4-BE49-F238E27FC236}">
                <a16:creationId xmlns:a16="http://schemas.microsoft.com/office/drawing/2014/main" id="{486F3AF5-8FAA-40A7-87A5-038ED9F954C7}"/>
              </a:ext>
            </a:extLst>
          </p:cNvPr>
          <p:cNvPicPr>
            <a:picLocks/>
          </p:cNvPicPr>
          <p:nvPr/>
        </p:nvPicPr>
        <p:blipFill>
          <a:blip r:embed="rId3"/>
          <a:srcRect b="235"/>
          <a:stretch>
            <a:fillRect/>
          </a:stretch>
        </p:blipFill>
        <p:spPr>
          <a:xfrm>
            <a:off x="635000" y="1498600"/>
            <a:ext cx="3238500" cy="2019300"/>
          </a:xfrm>
          <a:prstGeom prst="roundRect">
            <a:avLst>
              <a:gd name="adj" fmla="val 4000"/>
            </a:avLst>
          </a:prstGeom>
          <a:ln w="9525">
            <a:solidFill>
              <a:srgbClr val="DDDDDD"/>
            </a:solidFill>
          </a:ln>
        </p:spPr>
      </p:pic>
      <p:pic>
        <p:nvPicPr>
          <p:cNvPr id="5" name="Скриншот: каталог">
            <a:extLst>
              <a:ext uri="{FF2B5EF4-FFF2-40B4-BE49-F238E27FC236}">
                <a16:creationId xmlns:a16="http://schemas.microsoft.com/office/drawing/2014/main" id="{49BD1A87-7AEB-4519-8939-EC5963816AE5}"/>
              </a:ext>
            </a:extLst>
          </p:cNvPr>
          <p:cNvPicPr>
            <a:picLocks/>
          </p:cNvPicPr>
          <p:nvPr/>
        </p:nvPicPr>
        <p:blipFill>
          <a:blip r:embed="rId4"/>
          <a:srcRect b="235"/>
          <a:stretch>
            <a:fillRect/>
          </a:stretch>
        </p:blipFill>
        <p:spPr>
          <a:xfrm>
            <a:off x="4089400" y="1498600"/>
            <a:ext cx="3238500" cy="2019300"/>
          </a:xfrm>
          <a:prstGeom prst="roundRect">
            <a:avLst>
              <a:gd name="adj" fmla="val 4000"/>
            </a:avLst>
          </a:prstGeom>
          <a:ln w="9525">
            <a:solidFill>
              <a:srgbClr val="DDDDDD"/>
            </a:solidFill>
          </a:ln>
        </p:spPr>
      </p:pic>
      <p:pic>
        <p:nvPicPr>
          <p:cNvPr id="7" name="Скриншот: карточка на телефоне">
            <a:extLst>
              <a:ext uri="{FF2B5EF4-FFF2-40B4-BE49-F238E27FC236}">
                <a16:creationId xmlns:a16="http://schemas.microsoft.com/office/drawing/2014/main" id="{18D20A6A-E88B-43C6-B153-AD697A4A3D9B}"/>
              </a:ext>
            </a:extLst>
          </p:cNvPr>
          <p:cNvPicPr>
            <a:picLocks/>
          </p:cNvPicPr>
          <p:nvPr/>
        </p:nvPicPr>
        <p:blipFill>
          <a:blip r:embed="rId5"/>
          <a:srcRect l="59" r="59"/>
          <a:stretch>
            <a:fillRect/>
          </a:stretch>
        </p:blipFill>
        <p:spPr>
          <a:xfrm>
            <a:off x="7543800" y="1498600"/>
            <a:ext cx="1219200" cy="2641600"/>
          </a:xfrm>
          <a:prstGeom prst="roundRect">
            <a:avLst>
              <a:gd name="adj" fmla="val 4000"/>
            </a:avLst>
          </a:prstGeom>
          <a:ln w="9525">
            <a:solidFill>
              <a:srgbClr val="DDDDDD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7475C1-AACF-4AC3-9BC4-48F78B54E44F}"/>
              </a:ext>
            </a:extLst>
          </p:cNvPr>
          <p:cNvSpPr txBox="1"/>
          <p:nvPr/>
        </p:nvSpPr>
        <p:spPr>
          <a:xfrm>
            <a:off x="635000" y="3594100"/>
            <a:ext cx="32385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100">
                <a:solidFill>
                  <a:srgbClr val="5B5B5B"/>
                </a:solidFill>
                <a:latin typeface="Roboto" panose="02000000000000000000" pitchFamily="2" charset="0"/>
              </a:rPr>
              <a:t>Главная: «Питомцы недели», счётчики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00F00-6402-4BBE-8E22-302A37086E1C}"/>
              </a:ext>
            </a:extLst>
          </p:cNvPr>
          <p:cNvSpPr txBox="1"/>
          <p:nvPr/>
        </p:nvSpPr>
        <p:spPr>
          <a:xfrm>
            <a:off x="4089400" y="3594100"/>
            <a:ext cx="32385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100">
                <a:solidFill>
                  <a:srgbClr val="5B5B5B"/>
                </a:solidFill>
                <a:latin typeface="Roboto" panose="02000000000000000000" pitchFamily="2" charset="0"/>
              </a:rPr>
              <a:t>Каталог: фильтры сохраняются в адресе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9809-5765-448E-942E-683A7162374F}"/>
              </a:ext>
            </a:extLst>
          </p:cNvPr>
          <p:cNvSpPr txBox="1"/>
          <p:nvPr/>
        </p:nvSpPr>
        <p:spPr>
          <a:xfrm>
            <a:off x="7543800" y="4216400"/>
            <a:ext cx="1270000" cy="4001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000">
                <a:solidFill>
                  <a:srgbClr val="5B5B5B"/>
                </a:solidFill>
                <a:latin typeface="Roboto" panose="02000000000000000000" pitchFamily="2" charset="0"/>
              </a:rPr>
              <a:t>Карточка на телефоне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728D8-D5CE-4A42-89E5-F74B544F18F2}"/>
              </a:ext>
            </a:extLst>
          </p:cNvPr>
          <p:cNvSpPr txBox="1"/>
          <p:nvPr/>
        </p:nvSpPr>
        <p:spPr>
          <a:xfrm>
            <a:off x="635000" y="4038600"/>
            <a:ext cx="6692900" cy="492443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300">
                <a:latin typeface="Roboto" panose="02000000000000000000" pitchFamily="2" charset="0"/>
              </a:rPr>
              <a:t>Рабочий прототип: сайт, кабинет сотрудника и REST API. Проверен на ширине от 320 до 1440 px.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/>
              <a:t>Путь кандидата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Каталог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Карточка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Заявка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Решение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>
            <p:extLst>
              <p:ext uri="{D42A27DB-BD31-4B8C-83A1-F6EECF244321}">
                <p14:modId xmlns:p14="http://schemas.microsoft.com/office/powerpoint/2010/main" val="2883190981"/>
              </p:ext>
            </p:extLst>
          </p:nvPr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Фильтры по виду, возрасту и совместимости с детьми и животными; подбор с % совпадения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Фото, характер, здоровье, совместимость; избранное и «Похожие питомцы»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шага: о себе, жильё и опыт, пожелания, проверка; черновик сохраняется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Сотрудник комментирует, администратор одобряет — питомец бронируется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75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Заявка за 4 шага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255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«Далее» проверяет только текущий шаг, «Назад» ничего не теряет, черновик хранится в браузере.</a:t>
            </a: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Сервер перепроверяет анкету и не пропускает дубль: на одного питомца с одного email — одна заявка на рассмотрении.</a:t>
            </a: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Итог — экран с номером заявки и подбор «Кому ещё у вас будет хорошо».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Код: </a:t>
            </a:r>
            <a:r>
              <a:rPr lang="en-US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src/pages/apply.tsx, server/app.ts, server/schemas.ts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Скриншот: форма заявки">
            <a:extLst>
              <a:ext uri="{FF2B5EF4-FFF2-40B4-BE49-F238E27FC236}">
                <a16:creationId xmlns:a16="http://schemas.microsoft.com/office/drawing/2014/main" id="{D4C6D52B-DEF7-4656-8F50-1D7979B90958}"/>
              </a:ext>
            </a:extLst>
          </p:cNvPr>
          <p:cNvPicPr>
            <a:picLocks/>
          </p:cNvPicPr>
          <p:nvPr/>
        </p:nvPicPr>
        <p:blipFill>
          <a:blip r:embed="rId3"/>
          <a:srcRect l="6404" r="46961"/>
          <a:stretch>
            <a:fillRect/>
          </a:stretch>
        </p:blipFill>
        <p:spPr>
          <a:xfrm>
            <a:off x="5306100" y="0"/>
            <a:ext cx="3837900" cy="5143500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616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Кабинет сотрудника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255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Дашборд считает показатели по базе: заявки по неделям, воронку, спрос, причины отказов.</a:t>
            </a: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Подсказки на неделю: кто ждёт ответа дольше 3 дней, каких питомцев давно не смотрели.</a:t>
            </a: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b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ru-RU" sz="1300" b="0">
                <a:solidFill>
                  <a:srgbClr val="333333"/>
                </a:solidFill>
                <a:highlight>
                  <a:srgbClr val="FFFFFF"/>
                </a:highlight>
              </a:rPr>
              <a:t>Права проверяет сервер: волонтёр меняет статус питомца и комментирует, решения по заявкам — только администратор.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Код: </a:t>
            </a:r>
            <a:r>
              <a:rPr lang="en-US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server/analytics.ts, server/auth.ts, src/pages/admin/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Скриншот: дашборд">
            <a:extLst>
              <a:ext uri="{FF2B5EF4-FFF2-40B4-BE49-F238E27FC236}">
                <a16:creationId xmlns:a16="http://schemas.microsoft.com/office/drawing/2014/main" id="{825B5166-6E2B-463C-8AE4-B2EDC97B71BC}"/>
              </a:ext>
            </a:extLst>
          </p:cNvPr>
          <p:cNvPicPr>
            <a:picLocks/>
          </p:cNvPicPr>
          <p:nvPr/>
        </p:nvPicPr>
        <p:blipFill>
          <a:blip r:embed="rId3"/>
          <a:srcRect l="20812" r="32552"/>
          <a:stretch>
            <a:fillRect/>
          </a:stretch>
        </p:blipFill>
        <p:spPr>
          <a:xfrm>
            <a:off x="5306100" y="0"/>
            <a:ext cx="3837900" cy="5143500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11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Проект в цифрах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87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эндпоинта REST API с проверкой прав и данных на сервере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87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интеграционных теста API — от фильтров до прав ролей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64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экрана: 16 на сайте и 6 в кабинете сотрудника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Число 34">
            <a:extLst>
              <a:ext uri="{FF2B5EF4-FFF2-40B4-BE49-F238E27FC236}">
                <a16:creationId xmlns:a16="http://schemas.microsoft.com/office/drawing/2014/main" id="{1DCEEDAA-8B37-4F40-B6D7-4B6EB0E1945F}"/>
              </a:ext>
            </a:extLst>
          </p:cNvPr>
          <p:cNvSpPr txBox="1"/>
          <p:nvPr/>
        </p:nvSpPr>
        <p:spPr>
          <a:xfrm>
            <a:off x="1485813" y="1625600"/>
            <a:ext cx="2159100" cy="923330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ru-RU" sz="5400" b="1">
                <a:solidFill>
                  <a:srgbClr val="3F299A"/>
                </a:solidFill>
                <a:latin typeface="Roboto" panose="02000000000000000000" pitchFamily="2" charset="0"/>
              </a:rPr>
              <a:t>34</a:t>
            </a:r>
          </a:p>
        </p:txBody>
      </p:sp>
      <p:sp>
        <p:nvSpPr>
          <p:cNvPr id="3" name="Число 24">
            <a:extLst>
              <a:ext uri="{FF2B5EF4-FFF2-40B4-BE49-F238E27FC236}">
                <a16:creationId xmlns:a16="http://schemas.microsoft.com/office/drawing/2014/main" id="{C03E4BE9-7FE1-4D9A-BCE3-AFC2DF4A64FC}"/>
              </a:ext>
            </a:extLst>
          </p:cNvPr>
          <p:cNvSpPr txBox="1"/>
          <p:nvPr/>
        </p:nvSpPr>
        <p:spPr>
          <a:xfrm>
            <a:off x="3762213" y="1625600"/>
            <a:ext cx="2159100" cy="923330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ru-RU" sz="5400" b="1">
                <a:solidFill>
                  <a:srgbClr val="3F299A"/>
                </a:solidFill>
                <a:latin typeface="Roboto" panose="02000000000000000000" pitchFamily="2" charset="0"/>
              </a:rPr>
              <a:t>24</a:t>
            </a:r>
          </a:p>
        </p:txBody>
      </p:sp>
      <p:sp>
        <p:nvSpPr>
          <p:cNvPr id="4" name="Число 22">
            <a:extLst>
              <a:ext uri="{FF2B5EF4-FFF2-40B4-BE49-F238E27FC236}">
                <a16:creationId xmlns:a16="http://schemas.microsoft.com/office/drawing/2014/main" id="{72CF083A-FED6-4CE3-9CE1-C21527D12B43}"/>
              </a:ext>
            </a:extLst>
          </p:cNvPr>
          <p:cNvSpPr txBox="1"/>
          <p:nvPr/>
        </p:nvSpPr>
        <p:spPr>
          <a:xfrm>
            <a:off x="6038613" y="1625600"/>
            <a:ext cx="2159100" cy="923330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ru-RU" sz="5400" b="1">
                <a:solidFill>
                  <a:srgbClr val="3F299A"/>
                </a:solidFill>
                <a:latin typeface="Roboto" panose="02000000000000000000" pitchFamily="2" charset="0"/>
              </a:rPr>
              <a:t>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099D1-300E-4510-B85B-1E0EB1669006}"/>
              </a:ext>
            </a:extLst>
          </p:cNvPr>
          <p:cNvSpPr txBox="1"/>
          <p:nvPr/>
        </p:nvSpPr>
        <p:spPr>
          <a:xfrm>
            <a:off x="1485900" y="4318000"/>
            <a:ext cx="6731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ru-RU" sz="1100">
                <a:solidFill>
                  <a:srgbClr val="5B5B5B"/>
                </a:solidFill>
                <a:latin typeface="Roboto" panose="02000000000000000000" pitchFamily="2" charset="0"/>
              </a:rPr>
              <a:t>17 коммитов с 24.09.2026 · ~12 000 строк TypeScript · 33 питомца и 98 заявок в демо-данных</a:t>
            </a:r>
          </a:p>
        </p:txBody>
      </p:sp>
    </p:spTree>
    <p:extLst>
      <p:ext uri="{BB962C8B-B14F-4D97-AF65-F5344CB8AC3E}">
        <p14:creationId xmlns:p14="http://schemas.microsoft.com/office/powerpoint/2010/main" val="2472939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Как проверяли качество</a:t>
            </a:r>
            <a:endParaRPr/>
          </a:p>
        </p:txBody>
      </p:sp>
      <p:graphicFrame>
        <p:nvGraphicFramePr>
          <p:cNvPr id="603" name="Google Shape;603;p75"/>
          <p:cNvGraphicFramePr/>
          <p:nvPr>
            <p:extLst>
              <p:ext uri="{D42A27DB-BD31-4B8C-83A1-F6EECF244321}">
                <p14:modId xmlns:p14="http://schemas.microsoft.com/office/powerpoint/2010/main" val="1451264102"/>
              </p:ext>
            </p:extLst>
          </p:nvPr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делает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Результат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Тесты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API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Фильтры, заявки и дубли, права ролей, загрузка фото, данные для инвесторов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 из 24 проходят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Линтер и типы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oxlint и проверка типов TypeScript при каждой сборке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Сборка проходит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Безопасность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npm audit и Trivy: зависимости, секреты, Dockerfile, образы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Чисто после удаления уязвимого CLI shadcn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Ручная проверка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Все страницы на 320–1440 px под 4 ролями: кнопки, ссылки, консоль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Найдено и исправлено 6 проблем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Сборка образов сайта и API, проверка здоровья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Сайт на :8081, API отвечает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3500" marB="635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58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389954645"/>
              </p:ext>
            </p:extLst>
          </p:nvPr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{3B323768-1DB4-463B-BB12-4741791F3A22}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Цель достигнута: путь «подбор → заявка → решение приюта» работает целиком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нашла и закрыла 6 проблем интерфейса и уязвимые зависимости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Дальше: письма кандидатам о статусе, тайм-ауты запросов, рабочая база вместо демо-данных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Microsoft Office PowerPoint</Application>
  <PresentationFormat>Экран (16:9)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Roboto</vt:lpstr>
      <vt:lpstr>Roboto Medium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«Добрый дом»</vt:lpstr>
      <vt:lpstr>План защиты</vt:lpstr>
      <vt:lpstr>Презентация PowerPoint</vt:lpstr>
      <vt:lpstr>Какие технологии использовались </vt:lpstr>
      <vt:lpstr>Архитектура</vt:lpstr>
      <vt:lpstr>Что получилось</vt:lpstr>
      <vt:lpstr>Путь кандидата</vt:lpstr>
      <vt:lpstr>Заявка за 4 шага</vt:lpstr>
      <vt:lpstr>Кабинет сотрудника</vt:lpstr>
      <vt:lpstr>Проект в цифрах</vt:lpstr>
      <vt:lpstr>Как проверяли качество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Виталий Круковский</cp:lastModifiedBy>
  <cp:revision>1</cp:revision>
  <dcterms:modified xsi:type="dcterms:W3CDTF">2026-10-07T10:35:28Z</dcterms:modified>
</cp:coreProperties>
</file>